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7" r:id="rId3"/>
    <p:sldId id="262" r:id="rId4"/>
    <p:sldId id="263" r:id="rId5"/>
    <p:sldId id="264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141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832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0123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1357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37485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573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447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5998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0147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83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76396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0EEAFDF-9C3D-4258-AF70-E9B8EBA02046}" type="datetimeFigureOut">
              <a:rPr lang="en-IN" smtClean="0"/>
              <a:t>01-02-2025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605310A-5591-4C8E-A922-7FBF4219922A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546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E-commerce Product Review Analysis Assignment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10480" y="5512118"/>
            <a:ext cx="9144000" cy="1655762"/>
          </a:xfrm>
        </p:spPr>
        <p:txBody>
          <a:bodyPr/>
          <a:lstStyle/>
          <a:p>
            <a:r>
              <a:rPr lang="en-IN" dirty="0" smtClean="0"/>
              <a:t>BY: AMBATI HARSHITHA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8537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 and Overview of the Project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 smtClean="0"/>
          </a:p>
          <a:p>
            <a:r>
              <a:rPr lang="en-IN" dirty="0" smtClean="0"/>
              <a:t>This assignment or project goal is to </a:t>
            </a:r>
            <a:r>
              <a:rPr lang="en-US" dirty="0" smtClean="0"/>
              <a:t> gain insights into customer reviews and ratings for electronics products on Amazon, identifying trends, popular products, and potential areas for improvement.</a:t>
            </a:r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340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024112" cy="806704"/>
          </a:xfrm>
        </p:spPr>
        <p:txBody>
          <a:bodyPr/>
          <a:lstStyle/>
          <a:p>
            <a:r>
              <a:rPr lang="en-IN" dirty="0"/>
              <a:t>Methodology Summary</a:t>
            </a:r>
          </a:p>
        </p:txBody>
      </p:sp>
      <p:sp>
        <p:nvSpPr>
          <p:cNvPr id="23" name="Rectangle 20"/>
          <p:cNvSpPr>
            <a:spLocks noGrp="1" noChangeArrowheads="1"/>
          </p:cNvSpPr>
          <p:nvPr>
            <p:ph idx="1"/>
          </p:nvPr>
        </p:nvSpPr>
        <p:spPr bwMode="auto">
          <a:xfrm>
            <a:off x="1024128" y="1391920"/>
            <a:ext cx="1014171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/>
              <a:t>1. Data Loading &amp; </a:t>
            </a:r>
            <a:r>
              <a:rPr lang="en-IN" sz="2400" b="1" dirty="0" smtClean="0"/>
              <a:t>Cleaning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data1.csv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is loaded using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pandas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are identified and handled: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Dropped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Columns like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reviews.didPurchase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reviews.id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(due to excessive missing values).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Imputed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reviews.doRecommend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Missing values replaced with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reviews.numHelpful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Missing values replaced with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0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rows are removed to ensure data integrity.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46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dirty="0"/>
              <a:t>Data </a:t>
            </a:r>
            <a:r>
              <a:rPr lang="en-IN" sz="4800" dirty="0" err="1"/>
              <a:t>Preprocessing</a:t>
            </a:r>
            <a:endParaRPr lang="en-IN" sz="4800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24128" y="2097079"/>
            <a:ext cx="1035857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b="1" dirty="0">
                <a:latin typeface="Arial" panose="020B0604020202020204" pitchFamily="34" charset="0"/>
              </a:rPr>
              <a:t>Date Handling</a:t>
            </a:r>
            <a:r>
              <a:rPr lang="en-US" altLang="en-US" sz="2800" b="1" dirty="0" smtClean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 smtClean="0">
                <a:latin typeface="Arial" panose="020B0604020202020204" pitchFamily="34" charset="0"/>
              </a:rPr>
              <a:t>Columns </a:t>
            </a:r>
            <a:r>
              <a:rPr lang="en-US" altLang="en-US" sz="2800" dirty="0">
                <a:latin typeface="Arial" panose="020B0604020202020204" pitchFamily="34" charset="0"/>
              </a:rPr>
              <a:t>(</a:t>
            </a:r>
            <a:r>
              <a:rPr lang="en-US" altLang="en-US" sz="2800" dirty="0" err="1">
                <a:latin typeface="Arial" panose="020B0604020202020204" pitchFamily="34" charset="0"/>
              </a:rPr>
              <a:t>dateAdded</a:t>
            </a:r>
            <a:r>
              <a:rPr lang="en-US" altLang="en-US" sz="2800" dirty="0">
                <a:latin typeface="Arial" panose="020B0604020202020204" pitchFamily="34" charset="0"/>
              </a:rPr>
              <a:t>, </a:t>
            </a:r>
            <a:r>
              <a:rPr lang="en-US" altLang="en-US" sz="2800" dirty="0" err="1">
                <a:latin typeface="Arial" panose="020B0604020202020204" pitchFamily="34" charset="0"/>
              </a:rPr>
              <a:t>dateUpdated</a:t>
            </a:r>
            <a:r>
              <a:rPr lang="en-US" altLang="en-US" sz="2800" dirty="0">
                <a:latin typeface="Arial" panose="020B0604020202020204" pitchFamily="34" charset="0"/>
              </a:rPr>
              <a:t>, </a:t>
            </a:r>
            <a:r>
              <a:rPr lang="en-US" altLang="en-US" sz="2800" dirty="0" err="1">
                <a:latin typeface="Arial" panose="020B0604020202020204" pitchFamily="34" charset="0"/>
              </a:rPr>
              <a:t>reviews.date</a:t>
            </a:r>
            <a:r>
              <a:rPr lang="en-US" altLang="en-US" sz="2800" dirty="0">
                <a:latin typeface="Arial" panose="020B0604020202020204" pitchFamily="34" charset="0"/>
              </a:rPr>
              <a:t>, </a:t>
            </a:r>
            <a:r>
              <a:rPr lang="en-US" altLang="en-US" sz="2800" dirty="0" err="1">
                <a:latin typeface="Arial" panose="020B0604020202020204" pitchFamily="34" charset="0"/>
              </a:rPr>
              <a:t>reviews.dateSeen</a:t>
            </a:r>
            <a:r>
              <a:rPr lang="en-US" altLang="en-US" sz="2800" dirty="0">
                <a:latin typeface="Arial" panose="020B0604020202020204" pitchFamily="34" charset="0"/>
              </a:rPr>
              <a:t>) are converted to </a:t>
            </a:r>
            <a:r>
              <a:rPr lang="en-US" altLang="en-US" sz="2800" dirty="0" err="1">
                <a:latin typeface="Arial" panose="020B0604020202020204" pitchFamily="34" charset="0"/>
              </a:rPr>
              <a:t>datetime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lang="en-US" altLang="en-US" sz="2800" dirty="0" err="1">
                <a:latin typeface="Arial" panose="020B0604020202020204" pitchFamily="34" charset="0"/>
              </a:rPr>
              <a:t>format.Text</a:t>
            </a:r>
            <a:r>
              <a:rPr lang="en-US" altLang="en-US" sz="2800" dirty="0">
                <a:latin typeface="Arial" panose="020B0604020202020204" pitchFamily="34" charset="0"/>
              </a:rPr>
              <a:t> </a:t>
            </a:r>
            <a:r>
              <a:rPr lang="en-US" altLang="en-US" sz="2800" b="1" dirty="0">
                <a:latin typeface="Arial" panose="020B0604020202020204" pitchFamily="34" charset="0"/>
              </a:rPr>
              <a:t>Cleaning &amp; NLP Processing</a:t>
            </a:r>
            <a:r>
              <a:rPr lang="en-US" altLang="en-US" sz="2800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to lowercase.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Removed HTML tags &amp; special characters.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Tokenized into words.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800" dirty="0" err="1">
                <a:latin typeface="Arial" panose="020B0604020202020204" pitchFamily="34" charset="0"/>
              </a:rPr>
              <a:t>Stopwords</a:t>
            </a:r>
            <a:r>
              <a:rPr lang="en-US" altLang="en-US" sz="2800" dirty="0">
                <a:latin typeface="Arial" panose="020B0604020202020204" pitchFamily="34" charset="0"/>
              </a:rPr>
              <a:t> removed.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800" dirty="0">
                <a:latin typeface="Arial" panose="020B0604020202020204" pitchFamily="34" charset="0"/>
              </a:rPr>
              <a:t>Reviews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text is stored in a new column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cleaned_reviews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235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048" y="575056"/>
            <a:ext cx="4787392" cy="319024"/>
          </a:xfrm>
        </p:spPr>
        <p:txBody>
          <a:bodyPr>
            <a:normAutofit fontScale="90000"/>
          </a:bodyPr>
          <a:lstStyle/>
          <a:p>
            <a:r>
              <a:rPr lang="en-IN" sz="4400" dirty="0"/>
              <a:t>Review Trend Analysis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892048" y="734568"/>
            <a:ext cx="10192512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Temporal Analysis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new column 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Month-Year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 is created from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dateAdded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to analyze reviews over time.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Distribution Calculation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number of reviews per month is calculated and divided by the total number of unique products to get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rate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Trends in review rates are plotted using </a:t>
            </a:r>
            <a:r>
              <a:rPr lang="en-US" altLang="en-US" sz="1800" dirty="0" err="1">
                <a:latin typeface="Arial" panose="020B0604020202020204" pitchFamily="34" charset="0"/>
              </a:rPr>
              <a:t>matplotlib</a:t>
            </a:r>
            <a:r>
              <a:rPr lang="en-US" altLang="en-US" sz="18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Individual product review rates are also analyzed separately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latin typeface="Arial" panose="020B0604020202020204" pitchFamily="34" charset="0"/>
              </a:rPr>
              <a:t>Feature </a:t>
            </a:r>
            <a:r>
              <a:rPr lang="en-US" altLang="en-US" sz="2400" b="1" dirty="0" smtClean="0">
                <a:latin typeface="Arial" panose="020B0604020202020204" pitchFamily="34" charset="0"/>
              </a:rPr>
              <a:t>Engineering: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b="1" dirty="0" smtClean="0">
                <a:latin typeface="Arial" panose="020B0604020202020204" pitchFamily="34" charset="0"/>
              </a:rPr>
              <a:t>TF-IDF </a:t>
            </a:r>
            <a:r>
              <a:rPr lang="en-US" altLang="en-US" sz="1800" b="1" dirty="0">
                <a:latin typeface="Arial" panose="020B0604020202020204" pitchFamily="34" charset="0"/>
              </a:rPr>
              <a:t>Vectorization</a:t>
            </a:r>
            <a:r>
              <a:rPr lang="en-US" altLang="en-US" sz="1800" dirty="0" smtClean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 smtClean="0">
                <a:latin typeface="Arial" panose="020B0604020202020204" pitchFamily="34" charset="0"/>
              </a:rPr>
              <a:t>The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Tfidf</a:t>
            </a:r>
            <a:r>
              <a:rPr lang="en-US" altLang="en-US" sz="1800" dirty="0" smtClean="0">
                <a:latin typeface="Arial" panose="020B0604020202020204" pitchFamily="34" charset="0"/>
              </a:rPr>
              <a:t> </a:t>
            </a:r>
            <a:r>
              <a:rPr lang="en-US" altLang="en-US" sz="1800" dirty="0" err="1" smtClean="0">
                <a:latin typeface="Arial" panose="020B0604020202020204" pitchFamily="34" charset="0"/>
              </a:rPr>
              <a:t>Vectorizer</a:t>
            </a:r>
            <a:r>
              <a:rPr lang="en-US" altLang="en-US" sz="1800" dirty="0" smtClean="0">
                <a:latin typeface="Arial" panose="020B0604020202020204" pitchFamily="34" charset="0"/>
              </a:rPr>
              <a:t> </a:t>
            </a:r>
            <a:r>
              <a:rPr lang="en-US" altLang="en-US" sz="1800" dirty="0">
                <a:latin typeface="Arial" panose="020B0604020202020204" pitchFamily="34" charset="0"/>
              </a:rPr>
              <a:t>converts reviews into numerical vectors using the top 5000 most important words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800" dirty="0" smtClean="0">
                <a:latin typeface="Arial" panose="020B0604020202020204" pitchFamily="34" charset="0"/>
              </a:rPr>
              <a:t>The </a:t>
            </a:r>
            <a:r>
              <a:rPr lang="en-US" altLang="en-US" sz="1800" dirty="0">
                <a:latin typeface="Arial" panose="020B0604020202020204" pitchFamily="34" charset="0"/>
              </a:rPr>
              <a:t>transformed features are merged with the dataset.</a:t>
            </a: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452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Requirements and Libraries Needed 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508304"/>
            <a:ext cx="10410286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Core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pandas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For data manipulation and handling missing values.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numpy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Used indirectly (not explicitly mentioned, but might be used for numerical operations).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matplotlib.pyplot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For visualization (plotting trends over time).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Machine Learning &amp; NLP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sklearn.feature_extraction.text.TfidfVectorizer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For text vectorization.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sklearn.model_selection.train_test_split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To split data into training and testing sets.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sklearn.ensemble.RandomForestClassifier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For sentiment classification.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sklearn.metrics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For accuracy and classification report.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NLP-Specific Libraries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nltk.tokenize.word_tokenize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Tokenization.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nltk.corpus.stopwords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Removing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stopwords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nltk.stem.WordNetLemmatizer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Lemmatization.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re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Regular expressions for text preprocessing.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nltk.download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punkt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 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stopwords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", "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wordnet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")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Download required NLP resources.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107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4720" y="447929"/>
            <a:ext cx="10596880" cy="1499616"/>
          </a:xfrm>
        </p:spPr>
        <p:txBody>
          <a:bodyPr/>
          <a:lstStyle/>
          <a:p>
            <a:r>
              <a:rPr lang="en-IN" dirty="0" smtClean="0"/>
              <a:t>Graphical Representation of Product Analysis</a:t>
            </a: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789" y="1500505"/>
            <a:ext cx="8828611" cy="5266816"/>
          </a:xfrm>
        </p:spPr>
      </p:pic>
    </p:spTree>
    <p:extLst>
      <p:ext uri="{BB962C8B-B14F-4D97-AF65-F5344CB8AC3E}">
        <p14:creationId xmlns:p14="http://schemas.microsoft.com/office/powerpoint/2010/main" val="3441560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86" y="254000"/>
            <a:ext cx="10738828" cy="640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016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Potential Insights</a:t>
            </a:r>
            <a:br>
              <a:rPr lang="en-US" b="1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Seasonal Trends:</a:t>
            </a:r>
            <a:r>
              <a:rPr lang="en-US" dirty="0" smtClean="0"/>
              <a:t> The spikes in October and December might correlate with holiday shopping periods, suggesting increased customer engagement during these times.</a:t>
            </a:r>
          </a:p>
          <a:p>
            <a:r>
              <a:rPr lang="en-US" b="1" dirty="0" smtClean="0"/>
              <a:t>Product Launch or Promotion:</a:t>
            </a:r>
            <a:r>
              <a:rPr lang="en-US" dirty="0" smtClean="0"/>
              <a:t> The peak in March 2017 could indicate a significant product launch, promotion, or a major update that drove more customers to leave reviews.</a:t>
            </a:r>
          </a:p>
          <a:p>
            <a:r>
              <a:rPr lang="en-US" b="1" dirty="0" smtClean="0"/>
              <a:t>Customer Feedback Fluctuations:</a:t>
            </a:r>
            <a:r>
              <a:rPr lang="en-US" dirty="0" smtClean="0"/>
              <a:t> The varying review rates highlight periods of higher and lower customer feedback, which could be useful for understanding customer satisfaction trends or marketing effectiveness.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15314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1361</TotalTime>
  <Words>482</Words>
  <Application>Microsoft Office PowerPoint</Application>
  <PresentationFormat>Widescreen</PresentationFormat>
  <Paragraphs>56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Arial Unicode MS</vt:lpstr>
      <vt:lpstr>Tw Cen MT</vt:lpstr>
      <vt:lpstr>Tw Cen MT Condensed</vt:lpstr>
      <vt:lpstr>Wingdings 3</vt:lpstr>
      <vt:lpstr>Integral</vt:lpstr>
      <vt:lpstr>E-commerce Product Review Analysis Assignment </vt:lpstr>
      <vt:lpstr>Introduction and Overview of the Project</vt:lpstr>
      <vt:lpstr>Methodology Summary</vt:lpstr>
      <vt:lpstr>Data Preprocessing</vt:lpstr>
      <vt:lpstr>Review Trend Analysis </vt:lpstr>
      <vt:lpstr>Requirements and Libraries Needed </vt:lpstr>
      <vt:lpstr>Graphical Representation of Product Analysis</vt:lpstr>
      <vt:lpstr>PowerPoint Presentation</vt:lpstr>
      <vt:lpstr>Potential Insights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Product Review Analysis Assignment </dc:title>
  <dc:creator>A Harshitha</dc:creator>
  <cp:lastModifiedBy>A Harshitha</cp:lastModifiedBy>
  <cp:revision>9</cp:revision>
  <dcterms:created xsi:type="dcterms:W3CDTF">2025-01-31T19:30:07Z</dcterms:created>
  <dcterms:modified xsi:type="dcterms:W3CDTF">2025-02-01T18:11:33Z</dcterms:modified>
</cp:coreProperties>
</file>